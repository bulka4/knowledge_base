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3"/>
    <p:sldId id="257" r:id="rId4"/>
    <p:sldId id="258" r:id="rId5"/>
    <p:sldId id="265" r:id="rId6"/>
    <p:sldId id="274" r:id="rId7"/>
    <p:sldId id="275" r:id="rId8"/>
    <p:sldId id="271" r:id="rId9"/>
    <p:sldId id="272" r:id="rId10"/>
    <p:sldId id="273" r:id="rId11"/>
  </p:sldIdLst>
  <p:sldSz cx="9144000" cy="6858000" type="screen4x3"/>
  <p:notesSz cx="6858000" cy="9144000"/>
  <p:defaultTextStyle>
    <a:defPPr>
      <a:defRPr lang="en-US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60"/>
        <p:guide pos="2868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ytuł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Symbol zastępczy tekstu 102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Symbol zastępczy daty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>
                <a:ea typeface="SimSun" panose="02010600030101010101" pitchFamily="2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29" name="Symbol zastępczy stopki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>
                <a:ea typeface="SimSun" panose="02010600030101010101" pitchFamily="2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30" name="Symbol zastępczy numeru slajdu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>
                <a:ea typeface="SimSun" panose="02010600030101010101" pitchFamily="2" charset="-122"/>
              </a:defRPr>
            </a:lvl1pPr>
          </a:lstStyle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Pole tekstowe 3"/>
          <p:cNvSpPr txBox="1"/>
          <p:nvPr/>
        </p:nvSpPr>
        <p:spPr>
          <a:xfrm>
            <a:off x="712470" y="683260"/>
            <a:ext cx="81362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l-PL" altLang="en-US"/>
              <a:t>In this presentation I will explain how a transformer model with a multi head attention is used for building a chat bot. Below we can see a transformer model architecture.</a:t>
            </a:r>
            <a:endParaRPr lang="pl-PL" altLang="en-US"/>
          </a:p>
        </p:txBody>
      </p:sp>
      <p:pic>
        <p:nvPicPr>
          <p:cNvPr id="5" name="Obraz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1775" y="1988820"/>
            <a:ext cx="3416300" cy="4751705"/>
          </a:xfrm>
          <a:prstGeom prst="rect">
            <a:avLst/>
          </a:prstGeom>
        </p:spPr>
      </p:pic>
      <p:sp>
        <p:nvSpPr>
          <p:cNvPr id="11" name="Pole tekstowe 10"/>
          <p:cNvSpPr txBox="1"/>
          <p:nvPr/>
        </p:nvSpPr>
        <p:spPr>
          <a:xfrm>
            <a:off x="1403985" y="350075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l-PL" altLang="en-US"/>
              <a:t>encoder</a:t>
            </a:r>
            <a:endParaRPr lang="pl-PL" altLang="en-US"/>
          </a:p>
        </p:txBody>
      </p:sp>
      <p:cxnSp>
        <p:nvCxnSpPr>
          <p:cNvPr id="12" name="Łącznik prosty ze strzałką 11"/>
          <p:cNvCxnSpPr/>
          <p:nvPr/>
        </p:nvCxnSpPr>
        <p:spPr>
          <a:xfrm>
            <a:off x="2451100" y="3828415"/>
            <a:ext cx="680720" cy="4648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Pole tekstowe 12"/>
          <p:cNvSpPr txBox="1"/>
          <p:nvPr/>
        </p:nvSpPr>
        <p:spPr>
          <a:xfrm>
            <a:off x="6970395" y="3658870"/>
            <a:ext cx="1877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l-PL" altLang="en-US"/>
              <a:t>decoder</a:t>
            </a:r>
            <a:endParaRPr lang="pl-PL" altLang="en-US"/>
          </a:p>
        </p:txBody>
      </p:sp>
      <p:cxnSp>
        <p:nvCxnSpPr>
          <p:cNvPr id="14" name="Łącznik prosty ze strzałką 13"/>
          <p:cNvCxnSpPr>
            <a:stCxn id="13" idx="1"/>
          </p:cNvCxnSpPr>
          <p:nvPr/>
        </p:nvCxnSpPr>
        <p:spPr>
          <a:xfrm flipH="1">
            <a:off x="5796280" y="3843020"/>
            <a:ext cx="1174115" cy="1619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Symbol zastępczy zawartości 4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738505" y="1600200"/>
            <a:ext cx="3469005" cy="4526280"/>
          </a:xfrm>
          <a:prstGeom prst="rect">
            <a:avLst/>
          </a:prstGeom>
        </p:spPr>
      </p:pic>
      <p:sp>
        <p:nvSpPr>
          <p:cNvPr id="7" name="Pole tekstowe 6"/>
          <p:cNvSpPr txBox="1"/>
          <p:nvPr/>
        </p:nvSpPr>
        <p:spPr>
          <a:xfrm>
            <a:off x="615950" y="411480"/>
            <a:ext cx="81324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l-PL" altLang="en-US"/>
              <a:t>Here is shown an architecture of a multi head attention and a scaled dot product attention.</a:t>
            </a:r>
            <a:endParaRPr lang="pl-PL" altLang="en-US"/>
          </a:p>
        </p:txBody>
      </p:sp>
      <p:pic>
        <p:nvPicPr>
          <p:cNvPr id="8" name="Symbol zastępczy zawartości 7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54550" y="1632585"/>
            <a:ext cx="4032250" cy="4460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Pole tekstowe 5"/>
          <p:cNvSpPr txBox="1"/>
          <p:nvPr/>
        </p:nvSpPr>
        <p:spPr>
          <a:xfrm>
            <a:off x="390525" y="841375"/>
            <a:ext cx="819848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pl-PL" altLang="en-US"/>
              <a:t>V, K and Q shown in the slide with an attention are so called values, keys and queries which are matrixes. In case of building a chat bot those matrixes represents sentences. In attention in encoder </a:t>
            </a:r>
            <a:r>
              <a:rPr lang="pl-PL" altLang="en-US">
                <a:sym typeface="+mn-ea"/>
              </a:rPr>
              <a:t>V, K and Q are the same. The same is for</a:t>
            </a:r>
            <a:r>
              <a:rPr lang="pl-PL" altLang="en-US"/>
              <a:t> the first attention in decoder .</a:t>
            </a:r>
            <a:endParaRPr lang="pl-PL" altLang="en-US"/>
          </a:p>
          <a:p>
            <a:endParaRPr lang="pl-PL" altLang="en-US"/>
          </a:p>
          <a:p>
            <a:r>
              <a:rPr lang="pl-PL" altLang="en-US"/>
              <a:t>The ‘linear’ operation shown in a picture indicates a linear projection. That means that we are multiplying V, K and Q by matrixes with weights W_v, W_k and W_q (I am not sure but I think that we are also adding a bias to those values except for multiplying by weights). Those weights are a trainable parameters of a model. V, K and Q multiplied by weights are the input for scaled dot product attention.</a:t>
            </a:r>
            <a:endParaRPr lang="pl-PL" altLang="en-US"/>
          </a:p>
          <a:p>
            <a:endParaRPr lang="pl-PL" altLang="en-US"/>
          </a:p>
          <a:p>
            <a:r>
              <a:rPr lang="pl-PL" altLang="en-US"/>
              <a:t>We multiply V, K and Q by h different sets of matrixes W_v, W_k and W_q and they are a seperate inputs for scaled dot product attention. Then we concatenate all the results from scaled dot product attention and again multiply by a matrix with weights to get a final output.</a:t>
            </a:r>
            <a:endParaRPr lang="pl-PL" altLang="en-US"/>
          </a:p>
        </p:txBody>
      </p:sp>
      <p:pic>
        <p:nvPicPr>
          <p:cNvPr id="7" name="Symbol zastępczy zawartości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43940" y="5742305"/>
            <a:ext cx="6776085" cy="11156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Pole tekstowe 4"/>
          <p:cNvSpPr txBox="1"/>
          <p:nvPr/>
        </p:nvSpPr>
        <p:spPr>
          <a:xfrm>
            <a:off x="1571625" y="641985"/>
            <a:ext cx="523621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l-PL" altLang="en-US" sz="2500"/>
              <a:t>Annotations</a:t>
            </a:r>
            <a:endParaRPr lang="pl-PL" altLang="en-US" sz="2500"/>
          </a:p>
        </p:txBody>
      </p:sp>
      <p:sp>
        <p:nvSpPr>
          <p:cNvPr id="6" name="Pole tekstowe 5"/>
          <p:cNvSpPr txBox="1"/>
          <p:nvPr/>
        </p:nvSpPr>
        <p:spPr>
          <a:xfrm>
            <a:off x="1179195" y="1756410"/>
            <a:ext cx="7071360" cy="46024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pl-PL" altLang="en-US"/>
              <a:t>X will be representing a question which we ask to our chat bot and Y will be representing an answer. They are both matrixes where each row represents a single word. X[i][j] indicates a value in the i-th row and j-th column. In order to change words into vectors we can use word embeddings models.</a:t>
            </a:r>
            <a:endParaRPr lang="pl-PL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Pole tekstowe 3"/>
          <p:cNvSpPr txBox="1"/>
          <p:nvPr/>
        </p:nvSpPr>
        <p:spPr>
          <a:xfrm>
            <a:off x="546100" y="1198245"/>
            <a:ext cx="8089900" cy="51923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pl-PL" altLang="en-US"/>
              <a:t>Y at the begining is a matrix with only zeros.</a:t>
            </a:r>
            <a:endParaRPr lang="pl-PL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altLang="en-US"/>
              <a:t>X, Y -&gt; transformer(X, Y) = v1 -&gt; v1 is a vector representing the first generated word. We assign v1 to Y[0].</a:t>
            </a:r>
            <a:endParaRPr lang="pl-PL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altLang="en-US">
                <a:sym typeface="+mn-ea"/>
              </a:rPr>
              <a:t>X, Y -&gt; transformer(X, Y) = v2 -&gt; Now Y doesn’t consist only from zeros because Y[0] = v1. Now we assign v2 to Y[1].</a:t>
            </a:r>
            <a:endParaRPr lang="pl-PL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altLang="en-US"/>
              <a:t>We continue doing this until model generates a special ‘End’ token which indicates that this is the end of a sentence</a:t>
            </a:r>
            <a:endParaRPr lang="pl-PL" altLang="en-US"/>
          </a:p>
        </p:txBody>
      </p:sp>
      <p:sp>
        <p:nvSpPr>
          <p:cNvPr id="5" name="Pole tekstowe 4"/>
          <p:cNvSpPr txBox="1"/>
          <p:nvPr/>
        </p:nvSpPr>
        <p:spPr>
          <a:xfrm>
            <a:off x="359410" y="233045"/>
            <a:ext cx="8483600" cy="6134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pl-PL" altLang="en-US" sz="2500"/>
              <a:t>How a transformer generates an answer for a question</a:t>
            </a:r>
            <a:endParaRPr lang="pl-PL" altLang="en-US" sz="2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Pole tekstowe 3"/>
          <p:cNvSpPr txBox="1"/>
          <p:nvPr/>
        </p:nvSpPr>
        <p:spPr>
          <a:xfrm>
            <a:off x="528320" y="393700"/>
            <a:ext cx="8016875" cy="60236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pl-PL" altLang="en-US"/>
              <a:t>During a training our Y doesn’t consist only from zeros so before we pass it to a transformer model we need to mask (convert to zero or -inf) all the words from Y which were not generated by a model yet. This masking operation is being done within an attention function.</a:t>
            </a:r>
            <a:endParaRPr lang="pl-PL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altLang="en-US"/>
              <a:t>X, Y -&gt; mask all rows in Y -&gt; transformer(X, Y) = v1</a:t>
            </a:r>
            <a:endParaRPr lang="pl-PL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altLang="en-US">
                <a:sym typeface="+mn-ea"/>
              </a:rPr>
              <a:t>X, Y -&gt; mask all rows in Y except for the first row -&gt; transformer(X, Y) = v2</a:t>
            </a:r>
            <a:endParaRPr lang="pl-PL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altLang="en-US">
                <a:sym typeface="+mn-ea"/>
              </a:rPr>
              <a:t>X, Y -&gt; mask all rows in Y except for the first two rows -&gt; transformer(X, Y) = v3</a:t>
            </a:r>
            <a:endParaRPr lang="pl-PL" alt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altLang="en-US"/>
              <a:t>We continue doing this until we reach the end of Y</a:t>
            </a:r>
            <a:endParaRPr lang="pl-PL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l-PL" altLang="en-US"/>
          </a:p>
          <a:p>
            <a:pPr>
              <a:buFont typeface="Arial" panose="020B0604020202020204" pitchFamily="34" charset="0"/>
            </a:pPr>
            <a:r>
              <a:rPr lang="pl-PL" altLang="en-US"/>
              <a:t>Then we compare all generated words v1, v2, ... with the real values from Y</a:t>
            </a:r>
            <a:endParaRPr lang="pl-PL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Pole tekstowe 6"/>
          <p:cNvSpPr txBox="1"/>
          <p:nvPr/>
        </p:nvSpPr>
        <p:spPr>
          <a:xfrm>
            <a:off x="464820" y="288925"/>
            <a:ext cx="8362315" cy="995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pl-PL" altLang="en-US" sz="2500">
                <a:sym typeface="+mn-ea"/>
              </a:rPr>
              <a:t>More details about transformer’s operations</a:t>
            </a:r>
            <a:endParaRPr lang="pl-PL" altLang="en-US" sz="2500"/>
          </a:p>
        </p:txBody>
      </p:sp>
      <p:sp>
        <p:nvSpPr>
          <p:cNvPr id="4" name="Pole tekstowe 3"/>
          <p:cNvSpPr txBox="1"/>
          <p:nvPr/>
        </p:nvSpPr>
        <p:spPr>
          <a:xfrm>
            <a:off x="395605" y="962660"/>
            <a:ext cx="8315325" cy="57746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buFont typeface="Arial" panose="020B0604020202020204" pitchFamily="34" charset="0"/>
            </a:pPr>
            <a:r>
              <a:rPr lang="pl-PL" altLang="en-US"/>
              <a:t>x // question sentence</a:t>
            </a:r>
            <a:endParaRPr lang="pl-PL" altLang="en-US"/>
          </a:p>
          <a:p>
            <a:pPr>
              <a:buFont typeface="Arial" panose="020B0604020202020204" pitchFamily="34" charset="0"/>
            </a:pPr>
            <a:r>
              <a:rPr lang="pl-PL" altLang="en-US">
                <a:sym typeface="+mn-ea"/>
              </a:rPr>
              <a:t>y // answer sentence</a:t>
            </a:r>
            <a:endParaRPr lang="pl-PL" altLang="en-US"/>
          </a:p>
          <a:p>
            <a:pPr>
              <a:buFont typeface="Arial" panose="020B0604020202020204" pitchFamily="34" charset="0"/>
            </a:pPr>
            <a:r>
              <a:rPr lang="pl-PL" altLang="en-US"/>
              <a:t>def transformer(x, y, mask):</a:t>
            </a:r>
            <a:endParaRPr lang="pl-PL" altLang="en-US"/>
          </a:p>
          <a:p>
            <a:pPr marL="0" lvl="1" indent="457200">
              <a:buFont typeface="Arial" panose="020B0604020202020204" pitchFamily="34" charset="0"/>
            </a:pPr>
            <a:r>
              <a:rPr lang="pl-PL" altLang="en-US">
                <a:sym typeface="+mn-ea"/>
              </a:rPr>
              <a:t>// changing words into a vectors using an embedding model</a:t>
            </a:r>
            <a:endParaRPr lang="pl-PL" altLang="en-US"/>
          </a:p>
          <a:p>
            <a:pPr lvl="1">
              <a:buFont typeface="Arial" panose="020B0604020202020204" pitchFamily="34" charset="0"/>
            </a:pPr>
            <a:r>
              <a:rPr lang="pl-PL" altLang="en-US"/>
              <a:t>x = embedding(x) </a:t>
            </a:r>
            <a:endParaRPr lang="pl-PL" altLang="en-US"/>
          </a:p>
          <a:p>
            <a:pPr lvl="1">
              <a:buFont typeface="Arial" panose="020B0604020202020204" pitchFamily="34" charset="0"/>
            </a:pPr>
            <a:r>
              <a:rPr lang="pl-PL" altLang="en-US"/>
              <a:t>x = positional_encoding(x)</a:t>
            </a:r>
            <a:endParaRPr lang="pl-PL" altLang="en-US"/>
          </a:p>
          <a:p>
            <a:pPr lvl="1">
              <a:buFont typeface="Arial" panose="020B0604020202020204" pitchFamily="34" charset="0"/>
            </a:pPr>
            <a:endParaRPr lang="pl-PL" altLang="en-US"/>
          </a:p>
          <a:p>
            <a:pPr lvl="1">
              <a:buFont typeface="Arial" panose="020B0604020202020204" pitchFamily="34" charset="0"/>
            </a:pPr>
            <a:r>
              <a:rPr lang="pl-PL" altLang="en-US"/>
              <a:t>// we use an encoder N times</a:t>
            </a:r>
            <a:endParaRPr lang="pl-PL" altLang="en-US"/>
          </a:p>
          <a:p>
            <a:pPr lvl="1">
              <a:buFont typeface="Arial" panose="020B0604020202020204" pitchFamily="34" charset="0"/>
            </a:pPr>
            <a:r>
              <a:rPr lang="pl-PL" altLang="en-US"/>
              <a:t>for i in range(N):</a:t>
            </a:r>
            <a:endParaRPr lang="pl-PL" altLang="en-US"/>
          </a:p>
          <a:p>
            <a:pPr lvl="1" indent="457200">
              <a:buFont typeface="Arial" panose="020B0604020202020204" pitchFamily="34" charset="0"/>
            </a:pPr>
            <a:r>
              <a:rPr lang="pl-PL" altLang="en-US"/>
              <a:t>x = encoder(x)</a:t>
            </a:r>
            <a:endParaRPr lang="pl-PL" altLang="en-US"/>
          </a:p>
          <a:p>
            <a:pPr lvl="1" indent="457200">
              <a:buFont typeface="Arial" panose="020B0604020202020204" pitchFamily="34" charset="0"/>
            </a:pPr>
            <a:endParaRPr lang="pl-PL" altLang="en-US"/>
          </a:p>
          <a:p>
            <a:pPr lvl="1">
              <a:buFont typeface="Arial" panose="020B0604020202020204" pitchFamily="34" charset="0"/>
            </a:pPr>
            <a:r>
              <a:rPr lang="pl-PL" altLang="en-US"/>
              <a:t>y = embedding(y)</a:t>
            </a:r>
            <a:endParaRPr lang="pl-PL" altLang="en-US"/>
          </a:p>
          <a:p>
            <a:pPr lvl="1">
              <a:buFont typeface="Arial" panose="020B0604020202020204" pitchFamily="34" charset="0"/>
            </a:pPr>
            <a:r>
              <a:rPr lang="pl-PL" altLang="en-US">
                <a:sym typeface="+mn-ea"/>
              </a:rPr>
              <a:t>y = positional_encoding(y)</a:t>
            </a:r>
            <a:endParaRPr lang="pl-PL" altLang="en-US"/>
          </a:p>
          <a:p>
            <a:pPr lvl="1">
              <a:buFont typeface="Arial" panose="020B0604020202020204" pitchFamily="34" charset="0"/>
            </a:pPr>
            <a:endParaRPr lang="pl-PL" altLang="en-US"/>
          </a:p>
          <a:p>
            <a:pPr lvl="1">
              <a:buFont typeface="Arial" panose="020B0604020202020204" pitchFamily="34" charset="0"/>
            </a:pPr>
            <a:r>
              <a:rPr lang="pl-PL" altLang="en-US"/>
              <a:t>// we use a decoder M times</a:t>
            </a:r>
            <a:endParaRPr lang="pl-PL" altLang="en-US"/>
          </a:p>
          <a:p>
            <a:pPr lvl="1">
              <a:buFont typeface="Arial" panose="020B0604020202020204" pitchFamily="34" charset="0"/>
            </a:pPr>
            <a:r>
              <a:rPr lang="pl-PL" altLang="en-US"/>
              <a:t>for i in range(M):</a:t>
            </a:r>
            <a:endParaRPr lang="pl-PL" altLang="en-US"/>
          </a:p>
          <a:p>
            <a:pPr lvl="1" indent="457200">
              <a:buFont typeface="Arial" panose="020B0604020202020204" pitchFamily="34" charset="0"/>
            </a:pPr>
            <a:r>
              <a:rPr lang="pl-PL" altLang="en-US"/>
              <a:t>y = decoder(y, x, mask)</a:t>
            </a:r>
            <a:endParaRPr lang="pl-PL" altLang="en-US"/>
          </a:p>
          <a:p>
            <a:pPr lvl="1" indent="457200">
              <a:buFont typeface="Arial" panose="020B0604020202020204" pitchFamily="34" charset="0"/>
            </a:pPr>
            <a:endParaRPr lang="pl-PL" altLang="en-US"/>
          </a:p>
          <a:p>
            <a:pPr lvl="1">
              <a:buFont typeface="Arial" panose="020B0604020202020204" pitchFamily="34" charset="0"/>
            </a:pPr>
            <a:r>
              <a:rPr lang="pl-PL" altLang="en-US"/>
              <a:t>return y</a:t>
            </a:r>
            <a:endParaRPr lang="pl-PL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Pole tekstowe 4"/>
          <p:cNvSpPr txBox="1"/>
          <p:nvPr/>
        </p:nvSpPr>
        <p:spPr>
          <a:xfrm>
            <a:off x="405130" y="252095"/>
            <a:ext cx="8230235" cy="63684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pl-PL" altLang="en-US"/>
              <a:t>Decoder function:</a:t>
            </a:r>
            <a:endParaRPr lang="pl-PL" altLang="en-US"/>
          </a:p>
          <a:p>
            <a:endParaRPr lang="pl-PL" altLang="en-US"/>
          </a:p>
          <a:p>
            <a:r>
              <a:rPr lang="pl-PL" altLang="en-US"/>
              <a:t>def decoder(y, encoder_output, mask):</a:t>
            </a:r>
            <a:endParaRPr lang="pl-PL" altLang="en-US"/>
          </a:p>
          <a:p>
            <a:pPr indent="457200"/>
            <a:r>
              <a:rPr lang="pl-PL" altLang="en-US"/>
              <a:t>query, key, value = y</a:t>
            </a:r>
            <a:endParaRPr lang="pl-PL" altLang="en-US"/>
          </a:p>
          <a:p>
            <a:pPr indent="457200"/>
            <a:r>
              <a:rPr lang="pl-PL" altLang="en-US"/>
              <a:t>output = mha(</a:t>
            </a:r>
            <a:r>
              <a:rPr lang="pl-PL" altLang="en-US">
                <a:sym typeface="+mn-ea"/>
              </a:rPr>
              <a:t>value</a:t>
            </a:r>
            <a:r>
              <a:rPr lang="pl-PL" altLang="en-US"/>
              <a:t>, key, </a:t>
            </a:r>
            <a:r>
              <a:rPr lang="pl-PL" altLang="en-US">
                <a:sym typeface="+mn-ea"/>
              </a:rPr>
              <a:t>query</a:t>
            </a:r>
            <a:r>
              <a:rPr lang="pl-PL" altLang="en-US"/>
              <a:t>) // multi head attention</a:t>
            </a:r>
            <a:endParaRPr lang="pl-PL" altLang="en-US"/>
          </a:p>
          <a:p>
            <a:pPr indent="457200"/>
            <a:r>
              <a:rPr lang="pl-PL" altLang="en-US"/>
              <a:t>output = Norm(y + output) // normalization</a:t>
            </a:r>
            <a:endParaRPr lang="pl-PL" altLang="en-US"/>
          </a:p>
          <a:p>
            <a:pPr indent="457200"/>
            <a:endParaRPr lang="pl-PL" altLang="en-US"/>
          </a:p>
          <a:p>
            <a:pPr indent="457200"/>
            <a:r>
              <a:rPr lang="pl-PL" altLang="en-US"/>
              <a:t>value, key = encoder_output</a:t>
            </a:r>
            <a:endParaRPr lang="pl-PL" altLang="en-US"/>
          </a:p>
          <a:p>
            <a:pPr indent="457200"/>
            <a:r>
              <a:rPr lang="pl-PL" altLang="en-US"/>
              <a:t>query = output</a:t>
            </a:r>
            <a:endParaRPr lang="pl-PL" altLang="en-US"/>
          </a:p>
          <a:p>
            <a:pPr indent="457200"/>
            <a:r>
              <a:rPr lang="pl-PL" altLang="en-US"/>
              <a:t>output = mha(value, key, query, mask = </a:t>
            </a:r>
            <a:r>
              <a:rPr lang="pl-PL" altLang="en-US">
                <a:sym typeface="+mn-ea"/>
              </a:rPr>
              <a:t>mask</a:t>
            </a:r>
            <a:r>
              <a:rPr lang="pl-PL" altLang="en-US"/>
              <a:t>) // masked attention</a:t>
            </a:r>
            <a:endParaRPr lang="pl-PL" altLang="en-US"/>
          </a:p>
          <a:p>
            <a:pPr indent="457200"/>
            <a:r>
              <a:rPr lang="pl-PL" altLang="en-US">
                <a:sym typeface="+mn-ea"/>
              </a:rPr>
              <a:t>output = Norm(y + output)</a:t>
            </a:r>
            <a:endParaRPr lang="pl-PL" altLang="en-US">
              <a:sym typeface="+mn-ea"/>
            </a:endParaRPr>
          </a:p>
          <a:p>
            <a:pPr indent="457200"/>
            <a:r>
              <a:rPr lang="pl-PL" altLang="en-US"/>
              <a:t>output = Norm(output + feed_forward(output))</a:t>
            </a:r>
            <a:endParaRPr lang="pl-PL" altLang="en-US"/>
          </a:p>
          <a:p>
            <a:pPr indent="457200"/>
            <a:endParaRPr lang="pl-PL" altLang="en-US"/>
          </a:p>
          <a:p>
            <a:pPr indent="457200"/>
            <a:r>
              <a:rPr lang="pl-PL" altLang="en-US"/>
              <a:t>return output</a:t>
            </a:r>
            <a:endParaRPr lang="pl-PL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Pole tekstowe 3"/>
          <p:cNvSpPr txBox="1"/>
          <p:nvPr/>
        </p:nvSpPr>
        <p:spPr>
          <a:xfrm>
            <a:off x="502285" y="481965"/>
            <a:ext cx="8169910" cy="5980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pl-PL" altLang="en-US"/>
              <a:t>In the multi head attention function mha() argument mask indicates which values from variables ‘value’, ‘key’ and ‘query’ will be masked (converted to 0 or -inf). For example if mask = 2 then all rows of </a:t>
            </a:r>
            <a:r>
              <a:rPr lang="pl-PL" altLang="en-US">
                <a:sym typeface="+mn-ea"/>
              </a:rPr>
              <a:t>‘value’, ‘key’ and ‘query’ except for the first two rows will be converted to 0 or -inf.</a:t>
            </a:r>
            <a:endParaRPr lang="pl-PL" altLang="en-US">
              <a:sym typeface="+mn-ea"/>
            </a:endParaRPr>
          </a:p>
          <a:p>
            <a:endParaRPr lang="pl-PL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3620</Words>
  <Application>WPS Presentation</Application>
  <PresentationFormat/>
  <Paragraphs>73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Arial</vt:lpstr>
      <vt:lpstr>SimSun</vt:lpstr>
      <vt:lpstr>Wingdings</vt:lpstr>
      <vt:lpstr>Microsoft YaHei</vt:lpstr>
      <vt:lpstr>Arial Unicode MS</vt:lpstr>
      <vt:lpstr>Calibri</vt:lpstr>
      <vt:lpstr>Default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marcin bułka</dc:creator>
  <cp:lastModifiedBy>mbulk</cp:lastModifiedBy>
  <cp:revision>18</cp:revision>
  <dcterms:created xsi:type="dcterms:W3CDTF">2023-10-28T15:33:00Z</dcterms:created>
  <dcterms:modified xsi:type="dcterms:W3CDTF">2023-10-29T12:09:07Z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1045-12.2.0.13266</vt:lpwstr>
  </property>
  <property fmtid="{D5CDD505-2E9C-101B-9397-08002B2CF9AE}" pid="3" name="ICV">
    <vt:lpwstr>C0322A09CCC447D39D2B9D3A3415946B_12</vt:lpwstr>
  </property>
</Properties>
</file>