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71" r:id="rId4"/>
    <p:sldId id="264" r:id="rId5"/>
    <p:sldId id="257" r:id="rId6"/>
    <p:sldId id="261" r:id="rId7"/>
    <p:sldId id="258" r:id="rId8"/>
    <p:sldId id="259" r:id="rId9"/>
    <p:sldId id="260" r:id="rId10"/>
    <p:sldId id="262" r:id="rId11"/>
    <p:sldId id="272" r:id="rId12"/>
    <p:sldId id="280" r:id="rId13"/>
    <p:sldId id="281" r:id="rId14"/>
    <p:sldId id="282"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8.png"/><Relationship Id="rId1"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ole tekstowe 3"/>
          <p:cNvSpPr txBox="1"/>
          <p:nvPr/>
        </p:nvSpPr>
        <p:spPr>
          <a:xfrm>
            <a:off x="358775" y="823595"/>
            <a:ext cx="11475720" cy="1433830"/>
          </a:xfrm>
          <a:prstGeom prst="rect">
            <a:avLst/>
          </a:prstGeom>
          <a:noFill/>
        </p:spPr>
        <p:txBody>
          <a:bodyPr wrap="square" rtlCol="0">
            <a:noAutofit/>
          </a:bodyPr>
          <a:p>
            <a:pPr marL="285750" indent="-285750">
              <a:buFont typeface="Arial" panose="020B0604020202020204" pitchFamily="34" charset="0"/>
              <a:buChar char="•"/>
            </a:pPr>
            <a:r>
              <a:rPr lang="pl-PL" altLang="en-US" sz="2000"/>
              <a:t>Decision trees can take as input continuous, categorical and mix of continuous and categorical variables</a:t>
            </a:r>
            <a:endParaRPr lang="pl-PL" altLang="en-US" sz="2000"/>
          </a:p>
          <a:p>
            <a:pPr marL="285750" indent="-285750">
              <a:buFont typeface="Arial" panose="020B0604020202020204" pitchFamily="34" charset="0"/>
              <a:buChar char="•"/>
            </a:pPr>
            <a:r>
              <a:rPr lang="pl-PL" altLang="en-US" sz="2000"/>
              <a:t>They can be used for both classification and regression</a:t>
            </a:r>
            <a:endParaRPr lang="pl-PL" altLang="en-US" sz="2000"/>
          </a:p>
          <a:p>
            <a:pPr marL="285750" indent="-285750">
              <a:buFont typeface="Arial" panose="020B0604020202020204" pitchFamily="34" charset="0"/>
              <a:buChar char="•"/>
            </a:pPr>
            <a:r>
              <a:rPr lang="pl-PL" altLang="en-US" sz="2000"/>
              <a:t>They can be also used for clustering. Each leaf is a cluster</a:t>
            </a:r>
            <a:endParaRPr lang="pl-PL" altLang="en-US" sz="2000"/>
          </a:p>
          <a:p>
            <a:pPr marL="285750" indent="-285750">
              <a:buFont typeface="Arial" panose="020B0604020202020204" pitchFamily="34" charset="0"/>
              <a:buChar char="•"/>
            </a:pPr>
            <a:r>
              <a:rPr lang="pl-PL" altLang="en-US" sz="2000"/>
              <a:t>Video with great explanation of this model: https://www.youtube.com/watch?v=_L39rN6gz7Y</a:t>
            </a:r>
            <a:endParaRPr lang="pl-PL" altLang="en-US" sz="2000"/>
          </a:p>
          <a:p>
            <a:pPr marL="285750" indent="-285750">
              <a:buFont typeface="Arial" panose="020B0604020202020204" pitchFamily="34" charset="0"/>
              <a:buChar char="•"/>
            </a:pPr>
            <a:endParaRPr lang="pl-PL" altLang="en-US" sz="2000"/>
          </a:p>
        </p:txBody>
      </p:sp>
      <p:pic>
        <p:nvPicPr>
          <p:cNvPr id="5" name="Obraz 4"/>
          <p:cNvPicPr>
            <a:picLocks noChangeAspect="1"/>
          </p:cNvPicPr>
          <p:nvPr/>
        </p:nvPicPr>
        <p:blipFill>
          <a:blip r:embed="rId1"/>
          <a:stretch>
            <a:fillRect/>
          </a:stretch>
        </p:blipFill>
        <p:spPr>
          <a:xfrm>
            <a:off x="3696970" y="2619375"/>
            <a:ext cx="6419850" cy="4238625"/>
          </a:xfrm>
          <a:prstGeom prst="rect">
            <a:avLst/>
          </a:prstGeom>
        </p:spPr>
      </p:pic>
      <p:cxnSp>
        <p:nvCxnSpPr>
          <p:cNvPr id="6" name="Łącznik prosty ze strzałką 5"/>
          <p:cNvCxnSpPr/>
          <p:nvPr/>
        </p:nvCxnSpPr>
        <p:spPr>
          <a:xfrm flipH="1">
            <a:off x="8396605" y="3525520"/>
            <a:ext cx="1902460" cy="42418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7" name="Pole tekstowe 6"/>
          <p:cNvSpPr txBox="1"/>
          <p:nvPr/>
        </p:nvSpPr>
        <p:spPr>
          <a:xfrm>
            <a:off x="10384155" y="3258820"/>
            <a:ext cx="1798320" cy="368300"/>
          </a:xfrm>
          <a:prstGeom prst="rect">
            <a:avLst/>
          </a:prstGeom>
          <a:noFill/>
        </p:spPr>
        <p:txBody>
          <a:bodyPr wrap="square" rtlCol="0">
            <a:spAutoFit/>
          </a:bodyPr>
          <a:p>
            <a:r>
              <a:rPr lang="pl-PL" altLang="en-US"/>
              <a:t>root node</a:t>
            </a:r>
            <a:endParaRPr lang="pl-PL" altLang="en-US"/>
          </a:p>
        </p:txBody>
      </p:sp>
      <p:pic>
        <p:nvPicPr>
          <p:cNvPr id="8" name="Obraz 7"/>
          <p:cNvPicPr>
            <a:picLocks noChangeAspect="1"/>
          </p:cNvPicPr>
          <p:nvPr/>
        </p:nvPicPr>
        <p:blipFill>
          <a:blip r:embed="rId2"/>
          <a:stretch>
            <a:fillRect/>
          </a:stretch>
        </p:blipFill>
        <p:spPr>
          <a:xfrm>
            <a:off x="0" y="3525520"/>
            <a:ext cx="3720465" cy="203581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Pole tekstowe 3"/>
          <p:cNvSpPr txBox="1"/>
          <p:nvPr/>
        </p:nvSpPr>
        <p:spPr>
          <a:xfrm>
            <a:off x="503555" y="563880"/>
            <a:ext cx="11054080" cy="706755"/>
          </a:xfrm>
          <a:prstGeom prst="rect">
            <a:avLst/>
          </a:prstGeom>
          <a:noFill/>
        </p:spPr>
        <p:txBody>
          <a:bodyPr wrap="square" rtlCol="0">
            <a:spAutoFit/>
          </a:bodyPr>
          <a:p>
            <a:r>
              <a:rPr lang="pl-PL" altLang="en-US" sz="2000"/>
              <a:t>As example we will consider this dataset and this decission tree. </a:t>
            </a:r>
            <a:r>
              <a:rPr lang="pl-PL" altLang="en-US" sz="2000">
                <a:sym typeface="+mn-ea"/>
              </a:rPr>
              <a:t>We want to predict values in the ‘loves cool as ice’ column</a:t>
            </a:r>
            <a:endParaRPr lang="pl-PL" altLang="en-US" sz="2000"/>
          </a:p>
        </p:txBody>
      </p:sp>
      <p:pic>
        <p:nvPicPr>
          <p:cNvPr id="5" name="Symbol zastępczy zawartości 4"/>
          <p:cNvPicPr>
            <a:picLocks noChangeAspect="1"/>
          </p:cNvPicPr>
          <p:nvPr>
            <p:ph idx="1"/>
          </p:nvPr>
        </p:nvPicPr>
        <p:blipFill>
          <a:blip r:embed="rId1"/>
          <a:stretch>
            <a:fillRect/>
          </a:stretch>
        </p:blipFill>
        <p:spPr>
          <a:xfrm>
            <a:off x="725170" y="1825625"/>
            <a:ext cx="3771265" cy="4351655"/>
          </a:xfrm>
          <a:prstGeom prst="rect">
            <a:avLst/>
          </a:prstGeom>
        </p:spPr>
      </p:pic>
      <p:sp>
        <p:nvSpPr>
          <p:cNvPr id="7" name="Pole tekstowe 6"/>
          <p:cNvSpPr txBox="1"/>
          <p:nvPr/>
        </p:nvSpPr>
        <p:spPr>
          <a:xfrm>
            <a:off x="7661910" y="1525905"/>
            <a:ext cx="1427480" cy="645160"/>
          </a:xfrm>
          <a:prstGeom prst="rect">
            <a:avLst/>
          </a:prstGeom>
          <a:noFill/>
          <a:ln w="12700" cmpd="sng">
            <a:solidFill>
              <a:schemeClr val="accent1">
                <a:shade val="50000"/>
              </a:schemeClr>
            </a:solidFill>
            <a:prstDash val="solid"/>
          </a:ln>
        </p:spPr>
        <p:txBody>
          <a:bodyPr wrap="square" rtlCol="0">
            <a:spAutoFit/>
          </a:bodyPr>
          <a:p>
            <a:pPr algn="ctr"/>
            <a:r>
              <a:rPr lang="pl-PL" altLang="en-US"/>
              <a:t>dataset</a:t>
            </a:r>
            <a:endParaRPr lang="pl-PL" altLang="en-US"/>
          </a:p>
          <a:p>
            <a:pPr algn="ctr"/>
            <a:r>
              <a:rPr lang="pl-PL" altLang="en-US">
                <a:ln>
                  <a:noFill/>
                </a:ln>
              </a:rPr>
              <a:t>loves </a:t>
            </a:r>
            <a:r>
              <a:rPr lang="pl-PL" altLang="en-US"/>
              <a:t>soda?</a:t>
            </a:r>
            <a:endParaRPr lang="pl-PL" altLang="en-US"/>
          </a:p>
        </p:txBody>
      </p:sp>
      <p:sp>
        <p:nvSpPr>
          <p:cNvPr id="8" name="Pole tekstowe 7"/>
          <p:cNvSpPr txBox="1"/>
          <p:nvPr/>
        </p:nvSpPr>
        <p:spPr>
          <a:xfrm>
            <a:off x="6096000" y="2987040"/>
            <a:ext cx="1427480" cy="645160"/>
          </a:xfrm>
          <a:prstGeom prst="rect">
            <a:avLst/>
          </a:prstGeom>
          <a:noFill/>
          <a:ln w="12700" cmpd="sng">
            <a:solidFill>
              <a:schemeClr val="accent1">
                <a:shade val="50000"/>
              </a:schemeClr>
            </a:solidFill>
            <a:prstDash val="solid"/>
          </a:ln>
        </p:spPr>
        <p:txBody>
          <a:bodyPr wrap="square" rtlCol="0">
            <a:spAutoFit/>
          </a:bodyPr>
          <a:p>
            <a:pPr algn="ctr"/>
            <a:r>
              <a:rPr lang="pl-PL" altLang="en-US"/>
              <a:t>dataset1</a:t>
            </a:r>
            <a:endParaRPr lang="pl-PL" altLang="en-US"/>
          </a:p>
          <a:p>
            <a:pPr algn="ctr"/>
            <a:r>
              <a:rPr lang="pl-PL" altLang="en-US"/>
              <a:t>age &lt; 15?</a:t>
            </a:r>
            <a:endParaRPr lang="pl-PL" altLang="en-US"/>
          </a:p>
        </p:txBody>
      </p:sp>
      <p:sp>
        <p:nvSpPr>
          <p:cNvPr id="9" name="Pole tekstowe 8"/>
          <p:cNvSpPr txBox="1"/>
          <p:nvPr/>
        </p:nvSpPr>
        <p:spPr>
          <a:xfrm>
            <a:off x="9567545" y="3106420"/>
            <a:ext cx="1427480" cy="368300"/>
          </a:xfrm>
          <a:prstGeom prst="rect">
            <a:avLst/>
          </a:prstGeom>
          <a:noFill/>
          <a:ln w="12700" cmpd="sng">
            <a:solidFill>
              <a:schemeClr val="accent1">
                <a:shade val="50000"/>
              </a:schemeClr>
            </a:solidFill>
            <a:prstDash val="solid"/>
          </a:ln>
        </p:spPr>
        <p:txBody>
          <a:bodyPr wrap="square" rtlCol="0">
            <a:spAutoFit/>
          </a:bodyPr>
          <a:p>
            <a:pPr algn="ctr"/>
            <a:r>
              <a:rPr lang="pl-PL" altLang="en-US"/>
              <a:t>dataset2</a:t>
            </a:r>
            <a:endParaRPr lang="pl-PL" altLang="en-US"/>
          </a:p>
        </p:txBody>
      </p:sp>
      <p:sp>
        <p:nvSpPr>
          <p:cNvPr id="10" name="Pole tekstowe 9"/>
          <p:cNvSpPr txBox="1"/>
          <p:nvPr/>
        </p:nvSpPr>
        <p:spPr>
          <a:xfrm>
            <a:off x="5048250" y="4445000"/>
            <a:ext cx="1427480" cy="368300"/>
          </a:xfrm>
          <a:prstGeom prst="rect">
            <a:avLst/>
          </a:prstGeom>
          <a:noFill/>
          <a:ln w="12700" cmpd="sng">
            <a:solidFill>
              <a:schemeClr val="accent1">
                <a:shade val="50000"/>
              </a:schemeClr>
            </a:solidFill>
            <a:prstDash val="solid"/>
          </a:ln>
        </p:spPr>
        <p:txBody>
          <a:bodyPr wrap="square" rtlCol="0">
            <a:spAutoFit/>
          </a:bodyPr>
          <a:p>
            <a:pPr algn="ctr"/>
            <a:r>
              <a:rPr lang="pl-PL" altLang="en-US"/>
              <a:t>dataset3</a:t>
            </a:r>
            <a:endParaRPr lang="pl-PL" altLang="en-US"/>
          </a:p>
        </p:txBody>
      </p:sp>
      <p:sp>
        <p:nvSpPr>
          <p:cNvPr id="11" name="Pole tekstowe 10"/>
          <p:cNvSpPr txBox="1"/>
          <p:nvPr/>
        </p:nvSpPr>
        <p:spPr>
          <a:xfrm>
            <a:off x="7523480" y="4572000"/>
            <a:ext cx="1427480" cy="368300"/>
          </a:xfrm>
          <a:prstGeom prst="rect">
            <a:avLst/>
          </a:prstGeom>
          <a:noFill/>
          <a:ln w="12700" cmpd="sng">
            <a:solidFill>
              <a:schemeClr val="accent1">
                <a:shade val="50000"/>
              </a:schemeClr>
            </a:solidFill>
            <a:prstDash val="solid"/>
          </a:ln>
        </p:spPr>
        <p:txBody>
          <a:bodyPr wrap="square" rtlCol="0">
            <a:spAutoFit/>
          </a:bodyPr>
          <a:p>
            <a:pPr algn="ctr"/>
            <a:r>
              <a:rPr lang="pl-PL" altLang="en-US"/>
              <a:t>dataset3</a:t>
            </a:r>
            <a:endParaRPr lang="pl-PL" altLang="en-US"/>
          </a:p>
        </p:txBody>
      </p:sp>
      <p:cxnSp>
        <p:nvCxnSpPr>
          <p:cNvPr id="12" name="Łącznik prosty ze strzałką 11"/>
          <p:cNvCxnSpPr>
            <a:stCxn id="7" idx="2"/>
            <a:endCxn id="8" idx="0"/>
          </p:cNvCxnSpPr>
          <p:nvPr/>
        </p:nvCxnSpPr>
        <p:spPr>
          <a:xfrm flipH="1">
            <a:off x="6809740" y="2171065"/>
            <a:ext cx="1565910" cy="81597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13" name="Łącznik prosty ze strzałką 12"/>
          <p:cNvCxnSpPr>
            <a:endCxn id="9" idx="0"/>
          </p:cNvCxnSpPr>
          <p:nvPr/>
        </p:nvCxnSpPr>
        <p:spPr>
          <a:xfrm>
            <a:off x="8355330" y="2166620"/>
            <a:ext cx="1925955" cy="93980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14" name="Łącznik prosty ze strzałką 13"/>
          <p:cNvCxnSpPr>
            <a:stCxn id="8" idx="2"/>
            <a:endCxn id="10" idx="0"/>
          </p:cNvCxnSpPr>
          <p:nvPr/>
        </p:nvCxnSpPr>
        <p:spPr>
          <a:xfrm flipH="1">
            <a:off x="5761990" y="3632200"/>
            <a:ext cx="1047750" cy="81280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15" name="Łącznik prosty ze strzałką 14"/>
          <p:cNvCxnSpPr>
            <a:stCxn id="8" idx="2"/>
            <a:endCxn id="11" idx="0"/>
          </p:cNvCxnSpPr>
          <p:nvPr/>
        </p:nvCxnSpPr>
        <p:spPr>
          <a:xfrm>
            <a:off x="6809740" y="3632200"/>
            <a:ext cx="1427480" cy="93980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16" name="Pole tekstowe 15"/>
          <p:cNvSpPr txBox="1"/>
          <p:nvPr/>
        </p:nvSpPr>
        <p:spPr>
          <a:xfrm>
            <a:off x="5723890" y="1678940"/>
            <a:ext cx="1085850" cy="368300"/>
          </a:xfrm>
          <a:prstGeom prst="rect">
            <a:avLst/>
          </a:prstGeom>
          <a:noFill/>
        </p:spPr>
        <p:txBody>
          <a:bodyPr wrap="square" rtlCol="0">
            <a:spAutoFit/>
          </a:bodyPr>
          <a:p>
            <a:pPr algn="ctr"/>
            <a:r>
              <a:rPr lang="pl-PL" altLang="en-US"/>
              <a:t>node 1</a:t>
            </a:r>
            <a:endParaRPr lang="pl-PL" altLang="en-US"/>
          </a:p>
        </p:txBody>
      </p:sp>
      <p:sp>
        <p:nvSpPr>
          <p:cNvPr id="17" name="Pole tekstowe 16"/>
          <p:cNvSpPr txBox="1"/>
          <p:nvPr/>
        </p:nvSpPr>
        <p:spPr>
          <a:xfrm>
            <a:off x="4568190" y="2932430"/>
            <a:ext cx="1085850" cy="368300"/>
          </a:xfrm>
          <a:prstGeom prst="rect">
            <a:avLst/>
          </a:prstGeom>
          <a:noFill/>
        </p:spPr>
        <p:txBody>
          <a:bodyPr wrap="square" rtlCol="0">
            <a:spAutoFit/>
          </a:bodyPr>
          <a:p>
            <a:pPr algn="ctr"/>
            <a:r>
              <a:rPr lang="pl-PL" altLang="en-US"/>
              <a:t>node 2</a:t>
            </a:r>
            <a:endParaRPr lang="pl-PL" altLang="en-US"/>
          </a:p>
        </p:txBody>
      </p:sp>
      <p:sp>
        <p:nvSpPr>
          <p:cNvPr id="18" name="Pole tekstowe 17"/>
          <p:cNvSpPr txBox="1"/>
          <p:nvPr/>
        </p:nvSpPr>
        <p:spPr>
          <a:xfrm>
            <a:off x="10995025" y="2241550"/>
            <a:ext cx="1085850" cy="368300"/>
          </a:xfrm>
          <a:prstGeom prst="rect">
            <a:avLst/>
          </a:prstGeom>
          <a:noFill/>
        </p:spPr>
        <p:txBody>
          <a:bodyPr wrap="square" rtlCol="0">
            <a:spAutoFit/>
          </a:bodyPr>
          <a:p>
            <a:pPr algn="ctr"/>
            <a:r>
              <a:rPr lang="pl-PL" altLang="en-US"/>
              <a:t>node 3</a:t>
            </a:r>
            <a:endParaRPr lang="pl-PL" altLang="en-US"/>
          </a:p>
        </p:txBody>
      </p:sp>
      <p:sp>
        <p:nvSpPr>
          <p:cNvPr id="19" name="Pole tekstowe 18"/>
          <p:cNvSpPr txBox="1"/>
          <p:nvPr/>
        </p:nvSpPr>
        <p:spPr>
          <a:xfrm>
            <a:off x="9335770" y="5125720"/>
            <a:ext cx="1085850" cy="368300"/>
          </a:xfrm>
          <a:prstGeom prst="rect">
            <a:avLst/>
          </a:prstGeom>
          <a:noFill/>
        </p:spPr>
        <p:txBody>
          <a:bodyPr wrap="square" rtlCol="0">
            <a:spAutoFit/>
          </a:bodyPr>
          <a:p>
            <a:pPr algn="ctr"/>
            <a:r>
              <a:rPr lang="pl-PL" altLang="en-US"/>
              <a:t>leaf 2</a:t>
            </a:r>
            <a:endParaRPr lang="pl-PL" altLang="en-US"/>
          </a:p>
        </p:txBody>
      </p:sp>
      <p:sp>
        <p:nvSpPr>
          <p:cNvPr id="20" name="Pole tekstowe 19"/>
          <p:cNvSpPr txBox="1"/>
          <p:nvPr/>
        </p:nvSpPr>
        <p:spPr>
          <a:xfrm>
            <a:off x="5048250" y="5300980"/>
            <a:ext cx="1085850" cy="368300"/>
          </a:xfrm>
          <a:prstGeom prst="rect">
            <a:avLst/>
          </a:prstGeom>
          <a:noFill/>
        </p:spPr>
        <p:txBody>
          <a:bodyPr wrap="square" rtlCol="0">
            <a:spAutoFit/>
          </a:bodyPr>
          <a:p>
            <a:pPr algn="ctr"/>
            <a:r>
              <a:rPr lang="pl-PL" altLang="en-US"/>
              <a:t>leaf 1</a:t>
            </a:r>
            <a:endParaRPr lang="pl-PL" altLang="en-US"/>
          </a:p>
        </p:txBody>
      </p:sp>
      <p:cxnSp>
        <p:nvCxnSpPr>
          <p:cNvPr id="21" name="Łącznik prosty ze strzałką 20"/>
          <p:cNvCxnSpPr>
            <a:stCxn id="16" idx="3"/>
            <a:endCxn id="7" idx="1"/>
          </p:cNvCxnSpPr>
          <p:nvPr/>
        </p:nvCxnSpPr>
        <p:spPr>
          <a:xfrm flipV="1">
            <a:off x="6809740" y="1848485"/>
            <a:ext cx="852170" cy="1460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22" name="Łącznik prosty ze strzałką 21"/>
          <p:cNvCxnSpPr>
            <a:stCxn id="17" idx="3"/>
            <a:endCxn id="8" idx="1"/>
          </p:cNvCxnSpPr>
          <p:nvPr/>
        </p:nvCxnSpPr>
        <p:spPr>
          <a:xfrm>
            <a:off x="5654040" y="3116580"/>
            <a:ext cx="441960" cy="19304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24" name="Łącznik prosty ze strzałką 23"/>
          <p:cNvCxnSpPr>
            <a:stCxn id="18" idx="1"/>
          </p:cNvCxnSpPr>
          <p:nvPr/>
        </p:nvCxnSpPr>
        <p:spPr>
          <a:xfrm flipH="1">
            <a:off x="10671175" y="2425700"/>
            <a:ext cx="323850" cy="73342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25" name="Łącznik prosty ze strzałką 24"/>
          <p:cNvCxnSpPr>
            <a:stCxn id="20" idx="0"/>
            <a:endCxn id="10" idx="2"/>
          </p:cNvCxnSpPr>
          <p:nvPr/>
        </p:nvCxnSpPr>
        <p:spPr>
          <a:xfrm flipV="1">
            <a:off x="5591175" y="4813300"/>
            <a:ext cx="170815" cy="48768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26" name="Łącznik prosty ze strzałką 25"/>
          <p:cNvCxnSpPr>
            <a:stCxn id="19" idx="0"/>
          </p:cNvCxnSpPr>
          <p:nvPr/>
        </p:nvCxnSpPr>
        <p:spPr>
          <a:xfrm flipH="1" flipV="1">
            <a:off x="8686165" y="4865370"/>
            <a:ext cx="1192530" cy="26035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27" name="Pole tekstowe 26"/>
          <p:cNvSpPr txBox="1"/>
          <p:nvPr/>
        </p:nvSpPr>
        <p:spPr>
          <a:xfrm>
            <a:off x="6711315" y="2332990"/>
            <a:ext cx="702945" cy="368300"/>
          </a:xfrm>
          <a:prstGeom prst="rect">
            <a:avLst/>
          </a:prstGeom>
          <a:noFill/>
        </p:spPr>
        <p:txBody>
          <a:bodyPr wrap="square" rtlCol="0">
            <a:spAutoFit/>
          </a:bodyPr>
          <a:p>
            <a:pPr algn="ctr"/>
            <a:r>
              <a:rPr lang="pl-PL" altLang="en-US"/>
              <a:t>true</a:t>
            </a:r>
            <a:endParaRPr lang="pl-PL" altLang="en-US"/>
          </a:p>
        </p:txBody>
      </p:sp>
      <p:sp>
        <p:nvSpPr>
          <p:cNvPr id="28" name="Pole tekstowe 27"/>
          <p:cNvSpPr txBox="1"/>
          <p:nvPr/>
        </p:nvSpPr>
        <p:spPr>
          <a:xfrm>
            <a:off x="5393055" y="3818890"/>
            <a:ext cx="702945" cy="365125"/>
          </a:xfrm>
          <a:prstGeom prst="rect">
            <a:avLst/>
          </a:prstGeom>
          <a:noFill/>
        </p:spPr>
        <p:txBody>
          <a:bodyPr wrap="square" rtlCol="0">
            <a:noAutofit/>
          </a:bodyPr>
          <a:p>
            <a:pPr algn="ctr"/>
            <a:r>
              <a:rPr lang="pl-PL" altLang="en-US"/>
              <a:t>true</a:t>
            </a:r>
            <a:endParaRPr lang="pl-PL" altLang="en-US"/>
          </a:p>
        </p:txBody>
      </p:sp>
      <p:sp>
        <p:nvSpPr>
          <p:cNvPr id="29" name="Pole tekstowe 28"/>
          <p:cNvSpPr txBox="1"/>
          <p:nvPr/>
        </p:nvSpPr>
        <p:spPr>
          <a:xfrm>
            <a:off x="7652385" y="3839845"/>
            <a:ext cx="702945" cy="368300"/>
          </a:xfrm>
          <a:prstGeom prst="rect">
            <a:avLst/>
          </a:prstGeom>
          <a:noFill/>
        </p:spPr>
        <p:txBody>
          <a:bodyPr wrap="square" rtlCol="0">
            <a:spAutoFit/>
          </a:bodyPr>
          <a:p>
            <a:pPr algn="ctr"/>
            <a:r>
              <a:rPr lang="pl-PL" altLang="en-US"/>
              <a:t>false</a:t>
            </a:r>
            <a:endParaRPr lang="pl-PL" altLang="en-US"/>
          </a:p>
        </p:txBody>
      </p:sp>
      <p:sp>
        <p:nvSpPr>
          <p:cNvPr id="30" name="Pole tekstowe 29"/>
          <p:cNvSpPr txBox="1"/>
          <p:nvPr/>
        </p:nvSpPr>
        <p:spPr>
          <a:xfrm>
            <a:off x="9335770" y="2332990"/>
            <a:ext cx="702945" cy="368300"/>
          </a:xfrm>
          <a:prstGeom prst="rect">
            <a:avLst/>
          </a:prstGeom>
          <a:noFill/>
        </p:spPr>
        <p:txBody>
          <a:bodyPr wrap="square" rtlCol="0">
            <a:spAutoFit/>
          </a:bodyPr>
          <a:p>
            <a:pPr algn="ctr"/>
            <a:r>
              <a:rPr lang="pl-PL" altLang="en-US"/>
              <a:t>false</a:t>
            </a:r>
            <a:endParaRPr lang="pl-PL"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Pole tekstowe 3"/>
          <p:cNvSpPr txBox="1"/>
          <p:nvPr/>
        </p:nvSpPr>
        <p:spPr>
          <a:xfrm>
            <a:off x="352425" y="327025"/>
            <a:ext cx="11370310" cy="542290"/>
          </a:xfrm>
          <a:prstGeom prst="rect">
            <a:avLst/>
          </a:prstGeom>
          <a:noFill/>
        </p:spPr>
        <p:txBody>
          <a:bodyPr wrap="square" rtlCol="0">
            <a:noAutofit/>
          </a:bodyPr>
          <a:p>
            <a:pPr algn="ctr"/>
            <a:r>
              <a:rPr lang="pl-PL" altLang="en-US" sz="2500"/>
              <a:t>How a decision tree works</a:t>
            </a:r>
            <a:endParaRPr lang="pl-PL" altLang="en-US" sz="2500"/>
          </a:p>
        </p:txBody>
      </p:sp>
      <p:sp>
        <p:nvSpPr>
          <p:cNvPr id="5" name="Pole tekstowe 4"/>
          <p:cNvSpPr txBox="1"/>
          <p:nvPr/>
        </p:nvSpPr>
        <p:spPr>
          <a:xfrm>
            <a:off x="323215" y="956945"/>
            <a:ext cx="11297920" cy="5499100"/>
          </a:xfrm>
          <a:prstGeom prst="rect">
            <a:avLst/>
          </a:prstGeom>
          <a:noFill/>
        </p:spPr>
        <p:txBody>
          <a:bodyPr wrap="square" rtlCol="0">
            <a:noAutofit/>
          </a:bodyPr>
          <a:p>
            <a:r>
              <a:rPr lang="pl-PL" altLang="en-US" sz="2000"/>
              <a:t>In each node we divide a dataset into two datasets by asking a question. </a:t>
            </a:r>
            <a:endParaRPr lang="pl-PL" altLang="en-US" sz="2000"/>
          </a:p>
          <a:p>
            <a:endParaRPr lang="pl-PL" altLang="en-US" sz="2000"/>
          </a:p>
          <a:p>
            <a:r>
              <a:rPr lang="pl-PL" altLang="en-US" sz="2000"/>
              <a:t>For example in the tree from the previous slide, in the first, root node we divide our dataset into two datasets: dataset 1 and dataset 2 based on values in the column ‘loves soda’. The dataset 1 contains people who love soda and the dataset 2 containes the ones who don’t. </a:t>
            </a:r>
            <a:endParaRPr lang="pl-PL" altLang="en-US" sz="2000"/>
          </a:p>
          <a:p>
            <a:endParaRPr lang="pl-PL" altLang="en-US" sz="2000"/>
          </a:p>
          <a:p>
            <a:r>
              <a:rPr lang="pl-PL" altLang="en-US" sz="2000"/>
              <a:t>Then we divide a dataset1 where people loves soda into another two datasets, one where people are younger than 15 and older. So each node corresponds to some dataset and it is dividing that dataset into two seperate subsets of that dataset.</a:t>
            </a:r>
            <a:endParaRPr lang="pl-PL" altLang="en-US" sz="2000"/>
          </a:p>
          <a:p>
            <a:endParaRPr lang="pl-PL" altLang="en-US" sz="2000"/>
          </a:p>
          <a:p>
            <a:endParaRPr lang="pl-PL" altLang="en-US" sz="20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Pole tekstowe 3"/>
          <p:cNvSpPr txBox="1"/>
          <p:nvPr/>
        </p:nvSpPr>
        <p:spPr>
          <a:xfrm>
            <a:off x="600710" y="1541780"/>
            <a:ext cx="10970260" cy="4822190"/>
          </a:xfrm>
          <a:prstGeom prst="rect">
            <a:avLst/>
          </a:prstGeom>
          <a:noFill/>
        </p:spPr>
        <p:txBody>
          <a:bodyPr wrap="square" rtlCol="0">
            <a:noAutofit/>
          </a:bodyPr>
          <a:p>
            <a:pPr marL="285750" indent="-285750">
              <a:buFont typeface="Arial" panose="020B0604020202020204" pitchFamily="34" charset="0"/>
              <a:buChar char="•"/>
            </a:pPr>
            <a:r>
              <a:rPr lang="pl-PL" altLang="en-US" sz="2000"/>
              <a:t>In order to decide what question will be asked in the first, root node we calculate a gini impurity for each column of our dataset. This value tells us how good is this question to makes predictions. In our case the first question is if a person loves soda and it splits our dataset into dataset 1 (people who loves sode) and dataset 2 (peoplo who don’t love soda).</a:t>
            </a:r>
            <a:endParaRPr lang="pl-PL" altLang="en-US" sz="2000"/>
          </a:p>
          <a:p>
            <a:pPr marL="285750" indent="-285750">
              <a:buFont typeface="Arial" panose="020B0604020202020204" pitchFamily="34" charset="0"/>
              <a:buChar char="•"/>
            </a:pPr>
            <a:r>
              <a:rPr lang="pl-PL" altLang="en-US" sz="2000"/>
              <a:t>In order to decide what question will be asked in the next node, if answer for the previous question was positive we do the same as in the previous step. This time we don’t take into account the column ‘loves soda’ which was already selected for the previous question and we are not splitting our original dataset but dataset 1.</a:t>
            </a:r>
            <a:endParaRPr lang="pl-PL" altLang="en-US" sz="2000"/>
          </a:p>
          <a:p>
            <a:pPr marL="285750" indent="-285750">
              <a:buFont typeface="Arial" panose="020B0604020202020204" pitchFamily="34" charset="0"/>
              <a:buChar char="•"/>
            </a:pPr>
            <a:r>
              <a:rPr lang="pl-PL" altLang="en-US" sz="2000">
                <a:sym typeface="+mn-ea"/>
              </a:rPr>
              <a:t>We continue creating next nodes until a gini impurity for a node is 0, </a:t>
            </a:r>
            <a:r>
              <a:rPr lang="pl-PL" altLang="en-US" sz="2000">
                <a:sym typeface="+mn-ea"/>
              </a:rPr>
              <a:t>until we reach a maximum number of leaves or when we have </a:t>
            </a:r>
            <a:r>
              <a:rPr lang="pl-PL" altLang="en-US" sz="2000">
                <a:sym typeface="+mn-ea"/>
              </a:rPr>
              <a:t>too little data </a:t>
            </a:r>
            <a:r>
              <a:rPr lang="pl-PL" altLang="en-US" sz="2000">
                <a:sym typeface="+mn-ea"/>
              </a:rPr>
              <a:t>in a leaf to split it futher. We need to decide what is a maximum number of leaves and minimum number of data in each leaf.</a:t>
            </a:r>
            <a:endParaRPr lang="pl-PL" altLang="en-US" sz="2000"/>
          </a:p>
        </p:txBody>
      </p:sp>
      <p:sp>
        <p:nvSpPr>
          <p:cNvPr id="2" name="Pole tekstowe 1"/>
          <p:cNvSpPr txBox="1"/>
          <p:nvPr/>
        </p:nvSpPr>
        <p:spPr>
          <a:xfrm>
            <a:off x="352425" y="327025"/>
            <a:ext cx="11370310" cy="542290"/>
          </a:xfrm>
          <a:prstGeom prst="rect">
            <a:avLst/>
          </a:prstGeom>
          <a:noFill/>
        </p:spPr>
        <p:txBody>
          <a:bodyPr wrap="square" rtlCol="0">
            <a:noAutofit/>
          </a:bodyPr>
          <a:p>
            <a:pPr algn="ctr"/>
            <a:r>
              <a:rPr lang="pl-PL" altLang="en-US" sz="2500"/>
              <a:t>How to build a decision tree</a:t>
            </a:r>
            <a:endParaRPr lang="pl-PL" altLang="en-US" sz="25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Pole tekstowe 3"/>
          <p:cNvSpPr txBox="1"/>
          <p:nvPr/>
        </p:nvSpPr>
        <p:spPr>
          <a:xfrm>
            <a:off x="449580" y="1619250"/>
            <a:ext cx="11247120" cy="4889500"/>
          </a:xfrm>
          <a:prstGeom prst="rect">
            <a:avLst/>
          </a:prstGeom>
          <a:noFill/>
        </p:spPr>
        <p:txBody>
          <a:bodyPr wrap="square" rtlCol="0">
            <a:noAutofit/>
          </a:bodyPr>
          <a:p>
            <a:r>
              <a:rPr lang="pl-PL" altLang="en-US" sz="2000"/>
              <a:t>Gini impurity measures diversity of dataset. When we select randomly an element from a dataset, it tells us how sure we can be about which element we select. For example if we have a group of 10 people and 9 of them are men, when we select randomly 1 human we can be pretty sure it is a men so gini impurity is small, and if in that group there is 5 men and 5 women then we are less sure about who we will select so gini impurity is big.</a:t>
            </a:r>
            <a:endParaRPr lang="pl-PL" altLang="en-US" sz="2000"/>
          </a:p>
        </p:txBody>
      </p:sp>
      <p:sp>
        <p:nvSpPr>
          <p:cNvPr id="2" name="Pole tekstowe 1"/>
          <p:cNvSpPr txBox="1"/>
          <p:nvPr/>
        </p:nvSpPr>
        <p:spPr>
          <a:xfrm>
            <a:off x="352425" y="327025"/>
            <a:ext cx="11370310" cy="542290"/>
          </a:xfrm>
          <a:prstGeom prst="rect">
            <a:avLst/>
          </a:prstGeom>
          <a:noFill/>
        </p:spPr>
        <p:txBody>
          <a:bodyPr wrap="square" rtlCol="0">
            <a:noAutofit/>
          </a:bodyPr>
          <a:p>
            <a:pPr algn="ctr"/>
            <a:r>
              <a:rPr lang="pl-PL" altLang="en-US" sz="2500"/>
              <a:t>Gini impurity interpretation</a:t>
            </a:r>
            <a:endParaRPr lang="pl-PL" altLang="en-US" sz="25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Pole tekstowe 3"/>
          <p:cNvSpPr txBox="1"/>
          <p:nvPr/>
        </p:nvSpPr>
        <p:spPr>
          <a:xfrm>
            <a:off x="740410" y="956945"/>
            <a:ext cx="10908665" cy="1483360"/>
          </a:xfrm>
          <a:prstGeom prst="rect">
            <a:avLst/>
          </a:prstGeom>
          <a:noFill/>
        </p:spPr>
        <p:txBody>
          <a:bodyPr wrap="square" rtlCol="0">
            <a:noAutofit/>
          </a:bodyPr>
          <a:p>
            <a:r>
              <a:rPr lang="pl-PL" altLang="en-US" sz="2000"/>
              <a:t>As an example we will calculate a gini impurity for the below dataset for the column ‘loves popcorn’. We want to predict values in the ‘loves cool as ice’ column. We divide our dataset into 2 subsets, one where people loves popcorn and one where they don’t. For each subset we check number of people who loves cool as ice and calculate a gini impurity.</a:t>
            </a:r>
            <a:endParaRPr lang="pl-PL" altLang="en-US" sz="2000"/>
          </a:p>
        </p:txBody>
      </p:sp>
      <p:sp>
        <p:nvSpPr>
          <p:cNvPr id="5" name="Pole tekstowe 4"/>
          <p:cNvSpPr txBox="1"/>
          <p:nvPr/>
        </p:nvSpPr>
        <p:spPr>
          <a:xfrm>
            <a:off x="400685" y="241935"/>
            <a:ext cx="11454765" cy="622935"/>
          </a:xfrm>
          <a:prstGeom prst="rect">
            <a:avLst/>
          </a:prstGeom>
          <a:noFill/>
        </p:spPr>
        <p:txBody>
          <a:bodyPr wrap="square" rtlCol="0">
            <a:noAutofit/>
          </a:bodyPr>
          <a:p>
            <a:pPr algn="ctr"/>
            <a:r>
              <a:rPr lang="pl-PL" altLang="en-US" sz="2500"/>
              <a:t>How to calculate a gini impurity</a:t>
            </a:r>
            <a:endParaRPr lang="pl-PL" altLang="en-US" sz="2500"/>
          </a:p>
        </p:txBody>
      </p:sp>
      <p:pic>
        <p:nvPicPr>
          <p:cNvPr id="6" name="Symbol zastępczy zawartości 5"/>
          <p:cNvPicPr>
            <a:picLocks noChangeAspect="1"/>
          </p:cNvPicPr>
          <p:nvPr>
            <p:ph idx="1"/>
          </p:nvPr>
        </p:nvPicPr>
        <p:blipFill>
          <a:blip r:embed="rId1"/>
          <a:stretch>
            <a:fillRect/>
          </a:stretch>
        </p:blipFill>
        <p:spPr>
          <a:xfrm>
            <a:off x="1902460" y="2506345"/>
            <a:ext cx="8387715" cy="435165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Pole tekstowe 3"/>
          <p:cNvSpPr txBox="1"/>
          <p:nvPr/>
        </p:nvSpPr>
        <p:spPr>
          <a:xfrm>
            <a:off x="873125" y="847725"/>
            <a:ext cx="10558145" cy="398780"/>
          </a:xfrm>
          <a:prstGeom prst="rect">
            <a:avLst/>
          </a:prstGeom>
          <a:noFill/>
        </p:spPr>
        <p:txBody>
          <a:bodyPr wrap="square" rtlCol="0">
            <a:spAutoFit/>
          </a:bodyPr>
          <a:p>
            <a:r>
              <a:rPr lang="pl-PL" altLang="en-US" sz="2000"/>
              <a:t>This is how we calculate a gini impurity for one leaf (subset): </a:t>
            </a:r>
            <a:endParaRPr lang="pl-PL" altLang="en-US" sz="2000"/>
          </a:p>
        </p:txBody>
      </p:sp>
      <p:pic>
        <p:nvPicPr>
          <p:cNvPr id="5" name="Symbol zastępczy zawartości 4"/>
          <p:cNvPicPr>
            <a:picLocks noChangeAspect="1"/>
          </p:cNvPicPr>
          <p:nvPr>
            <p:ph idx="1"/>
          </p:nvPr>
        </p:nvPicPr>
        <p:blipFill>
          <a:blip r:embed="rId1"/>
          <a:stretch>
            <a:fillRect/>
          </a:stretch>
        </p:blipFill>
        <p:spPr>
          <a:xfrm>
            <a:off x="1261745" y="1804035"/>
            <a:ext cx="9668510" cy="42354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Pole tekstowe 3"/>
          <p:cNvSpPr txBox="1"/>
          <p:nvPr/>
        </p:nvSpPr>
        <p:spPr>
          <a:xfrm>
            <a:off x="606425" y="883920"/>
            <a:ext cx="10885170" cy="398780"/>
          </a:xfrm>
          <a:prstGeom prst="rect">
            <a:avLst/>
          </a:prstGeom>
          <a:noFill/>
        </p:spPr>
        <p:txBody>
          <a:bodyPr wrap="square" rtlCol="0">
            <a:spAutoFit/>
          </a:bodyPr>
          <a:p>
            <a:r>
              <a:rPr lang="pl-PL" altLang="en-US" sz="2000"/>
              <a:t>And this is how we calculate a gini impurity for a column ‘loves popcorn’: </a:t>
            </a:r>
            <a:endParaRPr lang="pl-PL" altLang="en-US" sz="2000"/>
          </a:p>
        </p:txBody>
      </p:sp>
      <p:pic>
        <p:nvPicPr>
          <p:cNvPr id="5" name="Symbol zastępczy zawartości 4"/>
          <p:cNvPicPr>
            <a:picLocks noChangeAspect="1"/>
          </p:cNvPicPr>
          <p:nvPr>
            <p:ph idx="1"/>
          </p:nvPr>
        </p:nvPicPr>
        <p:blipFill>
          <a:blip r:embed="rId1"/>
          <a:stretch>
            <a:fillRect/>
          </a:stretch>
        </p:blipFill>
        <p:spPr>
          <a:xfrm>
            <a:off x="1200150" y="1898650"/>
            <a:ext cx="9417050" cy="435165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Pole tekstowe 3"/>
          <p:cNvSpPr txBox="1"/>
          <p:nvPr/>
        </p:nvSpPr>
        <p:spPr>
          <a:xfrm>
            <a:off x="377190" y="339725"/>
            <a:ext cx="11102340" cy="923290"/>
          </a:xfrm>
          <a:prstGeom prst="rect">
            <a:avLst/>
          </a:prstGeom>
          <a:noFill/>
        </p:spPr>
        <p:txBody>
          <a:bodyPr wrap="square" rtlCol="0">
            <a:noAutofit/>
          </a:bodyPr>
          <a:p>
            <a:r>
              <a:rPr lang="pl-PL" altLang="en-US" sz="2000"/>
              <a:t>When our column has a continuous values, then we sort our column and take averages between rows and we calculate a gini impurity for each of those values. We choose this value for which a gini impurity is the lowest.</a:t>
            </a:r>
            <a:endParaRPr lang="pl-PL" altLang="en-US" sz="2000"/>
          </a:p>
        </p:txBody>
      </p:sp>
      <p:pic>
        <p:nvPicPr>
          <p:cNvPr id="5" name="Symbol zastępczy zawartości 4"/>
          <p:cNvPicPr>
            <a:picLocks noChangeAspect="1"/>
          </p:cNvPicPr>
          <p:nvPr>
            <p:ph sz="half" idx="1"/>
          </p:nvPr>
        </p:nvPicPr>
        <p:blipFill>
          <a:blip r:embed="rId1"/>
          <a:stretch>
            <a:fillRect/>
          </a:stretch>
        </p:blipFill>
        <p:spPr>
          <a:xfrm>
            <a:off x="0" y="2156460"/>
            <a:ext cx="6272530" cy="3792855"/>
          </a:xfrm>
          <a:prstGeom prst="rect">
            <a:avLst/>
          </a:prstGeom>
        </p:spPr>
      </p:pic>
      <p:pic>
        <p:nvPicPr>
          <p:cNvPr id="7" name="Symbol zastępczy zawartości 6"/>
          <p:cNvPicPr>
            <a:picLocks noChangeAspect="1"/>
          </p:cNvPicPr>
          <p:nvPr>
            <p:ph sz="half" idx="2"/>
          </p:nvPr>
        </p:nvPicPr>
        <p:blipFill>
          <a:blip r:embed="rId2"/>
          <a:stretch>
            <a:fillRect/>
          </a:stretch>
        </p:blipFill>
        <p:spPr>
          <a:xfrm>
            <a:off x="7010400" y="2156460"/>
            <a:ext cx="5181600" cy="379285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Pole tekstowe 3"/>
          <p:cNvSpPr txBox="1"/>
          <p:nvPr/>
        </p:nvSpPr>
        <p:spPr>
          <a:xfrm>
            <a:off x="352425" y="327025"/>
            <a:ext cx="11370310" cy="542290"/>
          </a:xfrm>
          <a:prstGeom prst="rect">
            <a:avLst/>
          </a:prstGeom>
          <a:noFill/>
        </p:spPr>
        <p:txBody>
          <a:bodyPr wrap="square" rtlCol="0">
            <a:noAutofit/>
          </a:bodyPr>
          <a:p>
            <a:pPr algn="ctr"/>
            <a:r>
              <a:rPr lang="pl-PL" altLang="en-US" sz="2500"/>
              <a:t>How to make predictions</a:t>
            </a:r>
            <a:endParaRPr lang="pl-PL" altLang="en-US" sz="2500"/>
          </a:p>
        </p:txBody>
      </p:sp>
      <p:sp>
        <p:nvSpPr>
          <p:cNvPr id="5" name="Pole tekstowe 4"/>
          <p:cNvSpPr txBox="1"/>
          <p:nvPr/>
        </p:nvSpPr>
        <p:spPr>
          <a:xfrm>
            <a:off x="516890" y="1546225"/>
            <a:ext cx="10981690" cy="4659630"/>
          </a:xfrm>
          <a:prstGeom prst="rect">
            <a:avLst/>
          </a:prstGeom>
          <a:noFill/>
        </p:spPr>
        <p:txBody>
          <a:bodyPr wrap="square" rtlCol="0">
            <a:noAutofit/>
          </a:bodyPr>
          <a:p>
            <a:r>
              <a:rPr lang="pl-PL" altLang="en-US" sz="2000"/>
              <a:t>When we have a new data sample we check to which leaf it belongs. </a:t>
            </a:r>
            <a:r>
              <a:rPr lang="pl-PL" altLang="en-US" sz="2000">
                <a:sym typeface="+mn-ea"/>
              </a:rPr>
              <a:t>For example if we have a sample where ‘loves popcorn’ = no, ‘loves soda’ = yes and ‘age’ = 15 then this sample will go to the leaf with dataset 3. </a:t>
            </a:r>
            <a:r>
              <a:rPr lang="pl-PL" altLang="en-US" sz="2000"/>
              <a:t>Then we assign to this sample a class which is the most popular in this leaf.</a:t>
            </a:r>
            <a:endParaRPr lang="pl-PL" altLang="en-US" sz="2000"/>
          </a:p>
          <a:p>
            <a:endParaRPr lang="pl-PL" altLang="en-US" sz="2000"/>
          </a:p>
          <a:p>
            <a:r>
              <a:rPr lang="pl-PL" altLang="en-US" sz="2000"/>
              <a:t>If one variable has more than 2 categories, for example if in the column ‘loves soda’ we have values ‘yes’, ‘no’ and ‘I don’t know’ then in a node we can ask 3 possible questions about that column: ‘if loves </a:t>
            </a:r>
            <a:r>
              <a:rPr lang="pl-PL" altLang="en-US" sz="2000">
                <a:sym typeface="+mn-ea"/>
              </a:rPr>
              <a:t>soda </a:t>
            </a:r>
            <a:r>
              <a:rPr lang="pl-PL" altLang="en-US" sz="2000"/>
              <a:t>= yes?’, </a:t>
            </a:r>
            <a:r>
              <a:rPr lang="pl-PL" altLang="en-US" sz="2000">
                <a:sym typeface="+mn-ea"/>
              </a:rPr>
              <a:t>‘if loves </a:t>
            </a:r>
            <a:r>
              <a:rPr lang="pl-PL" altLang="en-US" sz="2000">
                <a:sym typeface="+mn-ea"/>
              </a:rPr>
              <a:t>soda = no?’ and ‘if loves soda = I don’t know?’.</a:t>
            </a:r>
            <a:endParaRPr lang="pl-PL" altLang="en-US" sz="20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Pole tekstowe 3"/>
          <p:cNvSpPr txBox="1"/>
          <p:nvPr/>
        </p:nvSpPr>
        <p:spPr>
          <a:xfrm>
            <a:off x="352425" y="327025"/>
            <a:ext cx="11370310" cy="542290"/>
          </a:xfrm>
          <a:prstGeom prst="rect">
            <a:avLst/>
          </a:prstGeom>
          <a:noFill/>
        </p:spPr>
        <p:txBody>
          <a:bodyPr wrap="square" rtlCol="0">
            <a:noAutofit/>
          </a:bodyPr>
          <a:p>
            <a:pPr algn="ctr"/>
            <a:r>
              <a:rPr lang="pl-PL" altLang="en-US" sz="2500"/>
              <a:t>How to build a regression tree</a:t>
            </a:r>
            <a:endParaRPr lang="pl-PL" altLang="en-US" sz="2500"/>
          </a:p>
        </p:txBody>
      </p:sp>
      <p:sp>
        <p:nvSpPr>
          <p:cNvPr id="5" name="Pole tekstowe 4"/>
          <p:cNvSpPr txBox="1"/>
          <p:nvPr/>
        </p:nvSpPr>
        <p:spPr>
          <a:xfrm>
            <a:off x="516890" y="1546225"/>
            <a:ext cx="10981690" cy="4659630"/>
          </a:xfrm>
          <a:prstGeom prst="rect">
            <a:avLst/>
          </a:prstGeom>
          <a:noFill/>
        </p:spPr>
        <p:txBody>
          <a:bodyPr wrap="square" rtlCol="0">
            <a:noAutofit/>
          </a:bodyPr>
          <a:p>
            <a:r>
              <a:rPr lang="pl-PL" altLang="en-US" sz="2000"/>
              <a:t>If we want to build a decision tree for predicting a value of a continuous variable then we again ask questions in each node to split a dataset into two seperate subsets. Then for each of those subsets we calculate a residuals instead of a gini impurity to check how good is that question for making predictions.</a:t>
            </a:r>
            <a:endParaRPr lang="pl-PL" altLang="en-US" sz="20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Pole tekstowe 3"/>
          <p:cNvSpPr txBox="1"/>
          <p:nvPr/>
        </p:nvSpPr>
        <p:spPr>
          <a:xfrm>
            <a:off x="352425" y="327025"/>
            <a:ext cx="11370310" cy="542290"/>
          </a:xfrm>
          <a:prstGeom prst="rect">
            <a:avLst/>
          </a:prstGeom>
          <a:noFill/>
        </p:spPr>
        <p:txBody>
          <a:bodyPr wrap="square" rtlCol="0">
            <a:noAutofit/>
          </a:bodyPr>
          <a:p>
            <a:pPr algn="ctr"/>
            <a:r>
              <a:rPr lang="pl-PL" altLang="en-US" sz="2500"/>
              <a:t>How to make predictions with a regression tree</a:t>
            </a:r>
            <a:endParaRPr lang="pl-PL" altLang="en-US" sz="2500"/>
          </a:p>
        </p:txBody>
      </p:sp>
      <p:sp>
        <p:nvSpPr>
          <p:cNvPr id="5" name="Pole tekstowe 4"/>
          <p:cNvSpPr txBox="1"/>
          <p:nvPr/>
        </p:nvSpPr>
        <p:spPr>
          <a:xfrm>
            <a:off x="516890" y="1546225"/>
            <a:ext cx="10981690" cy="4659630"/>
          </a:xfrm>
          <a:prstGeom prst="rect">
            <a:avLst/>
          </a:prstGeom>
          <a:noFill/>
        </p:spPr>
        <p:txBody>
          <a:bodyPr wrap="square" rtlCol="0">
            <a:noAutofit/>
          </a:bodyPr>
          <a:p>
            <a:r>
              <a:rPr lang="pl-PL" altLang="en-US" sz="2000"/>
              <a:t>In order to make predictions for a data sample we check to which leaf this sample belongs just like in a classification tree and we calculate an average value in that leaf dataset. That is our prediction.</a:t>
            </a:r>
            <a:endParaRPr lang="pl-PL" altLang="en-US" sz="20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Pole tekstowe 3"/>
          <p:cNvSpPr txBox="1"/>
          <p:nvPr/>
        </p:nvSpPr>
        <p:spPr>
          <a:xfrm>
            <a:off x="949325" y="969010"/>
            <a:ext cx="10373995" cy="4833620"/>
          </a:xfrm>
          <a:prstGeom prst="rect">
            <a:avLst/>
          </a:prstGeom>
          <a:noFill/>
        </p:spPr>
        <p:txBody>
          <a:bodyPr wrap="square" rtlCol="0">
            <a:noAutofit/>
          </a:bodyPr>
          <a:p>
            <a:r>
              <a:rPr lang="pl-PL" altLang="en-US"/>
              <a:t>Min_impurity_decrease argument for sklearn decission trees</a:t>
            </a:r>
            <a:endParaRPr lang="pl-PL" altLang="en-US"/>
          </a:p>
          <a:p>
            <a:endParaRPr lang="pl-PL" altLang="en-US"/>
          </a:p>
          <a:p>
            <a:r>
              <a:rPr lang="pl-PL" altLang="en-US"/>
              <a:t>Useful link: https://towardsdatascience.com/hyperparameters-of-decision-trees-explained-with-visualizations-1a6ef2f67edf</a:t>
            </a:r>
            <a:endParaRPr lang="pl-PL" altLang="en-US"/>
          </a:p>
          <a:p>
            <a:r>
              <a:rPr lang="pl-PL" altLang="en-US"/>
              <a:t>Trees does a split if that split causes decrease of impurity bigger then that value. The bigger that value is the less if probability of overfitting but model might be less accurate. </a:t>
            </a:r>
            <a:endParaRPr lang="pl-PL" alt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4898</Words>
  <Application>WPS Presentation</Application>
  <PresentationFormat>Widescreen</PresentationFormat>
  <Paragraphs>89</Paragraphs>
  <Slides>13</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13</vt:i4>
      </vt:variant>
    </vt:vector>
  </HeadingPairs>
  <TitlesOfParts>
    <vt:vector size="21" baseType="lpstr">
      <vt:lpstr>Arial</vt:lpstr>
      <vt:lpstr>SimSun</vt:lpstr>
      <vt:lpstr>Wingdings</vt:lpstr>
      <vt:lpstr>Calibri</vt:lpstr>
      <vt:lpstr>Microsoft YaHei</vt:lpstr>
      <vt:lpstr>Arial Unicode MS</vt:lpstr>
      <vt:lpstr>Calibri Light</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
  <cp:lastModifiedBy>Marcin Bułka</cp:lastModifiedBy>
  <cp:revision>22</cp:revision>
  <dcterms:created xsi:type="dcterms:W3CDTF">2023-10-29T15:46:00Z</dcterms:created>
  <dcterms:modified xsi:type="dcterms:W3CDTF">2023-11-05T17:01:28Z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43B00F8D3F464170ADD4D780D31215DD_12</vt:lpwstr>
  </property>
  <property fmtid="{D5CDD505-2E9C-101B-9397-08002B2CF9AE}" pid="3" name="KSOProductBuildVer">
    <vt:lpwstr>1045-12.2.0.13266</vt:lpwstr>
  </property>
</Properties>
</file>